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C9FD8-2A95-C59F-5E6F-7F0ABDA6DD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EDCE8A-86C9-E2E2-8023-80684E19C6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408682-FF27-DA0C-C4D8-E1E5F20AD56E}"/>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5" name="Footer Placeholder 4">
            <a:extLst>
              <a:ext uri="{FF2B5EF4-FFF2-40B4-BE49-F238E27FC236}">
                <a16:creationId xmlns:a16="http://schemas.microsoft.com/office/drawing/2014/main" id="{48111D3A-2AB3-0819-B3E3-C7D4FD9778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21583C-3916-1320-FF2B-CEE82E017B06}"/>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3142420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3A56-2288-6DEB-EC50-73C8449A3C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A169FE-87E8-6EE7-2E97-226BEC70FF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D084EE-EC64-B5E9-D4B2-F764E403D76B}"/>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5" name="Footer Placeholder 4">
            <a:extLst>
              <a:ext uri="{FF2B5EF4-FFF2-40B4-BE49-F238E27FC236}">
                <a16:creationId xmlns:a16="http://schemas.microsoft.com/office/drawing/2014/main" id="{4774E3F1-A206-91CA-A6A9-3CFC3517E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B7A06-62BC-CF8F-BC83-9BE50CEFA92D}"/>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449159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01C6C-DD00-12D0-A24F-37D46D1E13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4927FC-EA05-80C3-B124-846D490506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B9553B-5F59-4E93-4C4D-BB9EB6153548}"/>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5" name="Footer Placeholder 4">
            <a:extLst>
              <a:ext uri="{FF2B5EF4-FFF2-40B4-BE49-F238E27FC236}">
                <a16:creationId xmlns:a16="http://schemas.microsoft.com/office/drawing/2014/main" id="{C010B7C3-B4BA-A265-9C79-F4B267A05F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9C390-F488-05F0-AD0C-C689911989BD}"/>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514459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87FB-1867-8DE9-9D93-90C8FEAF93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929C38-25F7-ACC6-8F83-DB4AC1F3A1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635A1D-110C-2153-4DD1-29499CFE30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0D78AF-6D3E-E502-AEF8-E83BD9003037}"/>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6" name="Footer Placeholder 5">
            <a:extLst>
              <a:ext uri="{FF2B5EF4-FFF2-40B4-BE49-F238E27FC236}">
                <a16:creationId xmlns:a16="http://schemas.microsoft.com/office/drawing/2014/main" id="{E98A4237-6391-94F6-A554-E7A87C1B0C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D02FAA-C48E-FA57-DCC5-F1380D7E9AD5}"/>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743130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FFB1-7726-7C5B-4151-B9E7490035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9E58A3-8E7B-BB81-9793-E06ECFF6F1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D5281C-9C53-5CF1-4E43-41715BCB70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789DED-02EA-9113-EB9F-11821863A5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AC9A86-4E57-709D-38AA-93031DB70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F7FC15-1161-BB49-32FE-49F086DB0E17}"/>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8" name="Footer Placeholder 7">
            <a:extLst>
              <a:ext uri="{FF2B5EF4-FFF2-40B4-BE49-F238E27FC236}">
                <a16:creationId xmlns:a16="http://schemas.microsoft.com/office/drawing/2014/main" id="{3C8B3B38-4C43-1C5F-DAEA-42DEC925E1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6D3E19-32D8-A101-D73C-D132A6C5BEBC}"/>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1463344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0838D-1D2C-2AF2-35BA-BAB7ADCB8C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DC5BDD-0D49-311B-20EB-B2AA02855F4D}"/>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4" name="Footer Placeholder 3">
            <a:extLst>
              <a:ext uri="{FF2B5EF4-FFF2-40B4-BE49-F238E27FC236}">
                <a16:creationId xmlns:a16="http://schemas.microsoft.com/office/drawing/2014/main" id="{484798C3-EE35-F59D-1E72-C100DD9248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56F3B5-3493-0594-55CA-69A808712AFF}"/>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1163034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BEDF5A-C879-55AD-0A5C-619D95F85B7A}"/>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3" name="Footer Placeholder 2">
            <a:extLst>
              <a:ext uri="{FF2B5EF4-FFF2-40B4-BE49-F238E27FC236}">
                <a16:creationId xmlns:a16="http://schemas.microsoft.com/office/drawing/2014/main" id="{25429C0D-899B-8F3C-0854-2298DE6911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EB0C32-FBE8-A328-EE45-40138F117A5A}"/>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3963941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75F1-F249-7CC2-7925-5E60127CA8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54D200-4D0D-F8E3-C0FA-09AF4DC709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E78A3B-27B2-968F-DE48-78958364E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848DFF-9DE1-D384-06A3-24405DAF322E}"/>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6" name="Footer Placeholder 5">
            <a:extLst>
              <a:ext uri="{FF2B5EF4-FFF2-40B4-BE49-F238E27FC236}">
                <a16:creationId xmlns:a16="http://schemas.microsoft.com/office/drawing/2014/main" id="{40BDC99B-D049-8276-7B60-D278A71411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4AFAB-3E68-E640-838C-F41A9269EDEB}"/>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391880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519B-6FD2-71D2-4B5A-23C9F560F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53830C-BEA2-6862-66FC-96CF4B947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DE2AB7-37C5-71C6-BF18-3C9670496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78AA6-BBDC-F188-02CA-003362791FF2}"/>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6" name="Footer Placeholder 5">
            <a:extLst>
              <a:ext uri="{FF2B5EF4-FFF2-40B4-BE49-F238E27FC236}">
                <a16:creationId xmlns:a16="http://schemas.microsoft.com/office/drawing/2014/main" id="{36C800F9-DCDE-0998-6D26-8E43E864F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6C76C1-54BC-8E9E-D7FE-EF46A39DAE2F}"/>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820974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AA715-48FD-D0A6-E2CD-AF005875F1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20166A-B77B-3FF4-1616-254A7F823E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BA311-56CE-AF27-D32A-74ED944F8FB1}"/>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5" name="Footer Placeholder 4">
            <a:extLst>
              <a:ext uri="{FF2B5EF4-FFF2-40B4-BE49-F238E27FC236}">
                <a16:creationId xmlns:a16="http://schemas.microsoft.com/office/drawing/2014/main" id="{90FB5618-58B0-F98A-6721-1F6A969051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69493D-E41A-02C5-1168-EEEFD89B10D2}"/>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1018337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80DBFE-00F9-17AA-FFBB-BFFB891ABF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D904A6-6F24-B197-F93A-E420209F9B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10CD1-7DE2-B1FC-1B9B-CBAEFF29650A}"/>
              </a:ext>
            </a:extLst>
          </p:cNvPr>
          <p:cNvSpPr>
            <a:spLocks noGrp="1"/>
          </p:cNvSpPr>
          <p:nvPr>
            <p:ph type="dt" sz="half" idx="10"/>
          </p:nvPr>
        </p:nvSpPr>
        <p:spPr/>
        <p:txBody>
          <a:bodyPr/>
          <a:lstStyle/>
          <a:p>
            <a:fld id="{8677EE88-D9B3-4E99-8241-6A761789DDC6}" type="datetimeFigureOut">
              <a:rPr lang="en-US" smtClean="0"/>
              <a:t>2/24/2026</a:t>
            </a:fld>
            <a:endParaRPr lang="en-US"/>
          </a:p>
        </p:txBody>
      </p:sp>
      <p:sp>
        <p:nvSpPr>
          <p:cNvPr id="5" name="Footer Placeholder 4">
            <a:extLst>
              <a:ext uri="{FF2B5EF4-FFF2-40B4-BE49-F238E27FC236}">
                <a16:creationId xmlns:a16="http://schemas.microsoft.com/office/drawing/2014/main" id="{5955749A-D5BD-BD0E-1348-0FB098CE9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8EBCE-B40D-C9D3-EE51-043560542D96}"/>
              </a:ext>
            </a:extLst>
          </p:cNvPr>
          <p:cNvSpPr>
            <a:spLocks noGrp="1"/>
          </p:cNvSpPr>
          <p:nvPr>
            <p:ph type="sldNum" sz="quarter" idx="12"/>
          </p:nvPr>
        </p:nvSpPr>
        <p:spPr/>
        <p:txBody>
          <a:bodyPr/>
          <a:lstStyle/>
          <a:p>
            <a:fld id="{F1C843E3-39C9-45EF-B862-F402631158CF}" type="slidenum">
              <a:rPr lang="en-US" smtClean="0"/>
              <a:t>‹#›</a:t>
            </a:fld>
            <a:endParaRPr lang="en-US"/>
          </a:p>
        </p:txBody>
      </p:sp>
    </p:spTree>
    <p:extLst>
      <p:ext uri="{BB962C8B-B14F-4D97-AF65-F5344CB8AC3E}">
        <p14:creationId xmlns:p14="http://schemas.microsoft.com/office/powerpoint/2010/main" val="271724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A4150B-9BA0-B614-D323-07655ACC02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71671D-EF1B-F02C-4649-0FC45E3091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363B7-0AF2-2BDB-62FC-198B45CE59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77EE88-D9B3-4E99-8241-6A761789DDC6}" type="datetimeFigureOut">
              <a:rPr lang="en-US" smtClean="0"/>
              <a:t>2/24/2026</a:t>
            </a:fld>
            <a:endParaRPr lang="en-US"/>
          </a:p>
        </p:txBody>
      </p:sp>
      <p:sp>
        <p:nvSpPr>
          <p:cNvPr id="5" name="Footer Placeholder 4">
            <a:extLst>
              <a:ext uri="{FF2B5EF4-FFF2-40B4-BE49-F238E27FC236}">
                <a16:creationId xmlns:a16="http://schemas.microsoft.com/office/drawing/2014/main" id="{AA020F2E-BEA1-49FD-B61B-A9AC3ED4F2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AC8ED0-A1D8-64A1-42DE-AFE71C97C4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C843E3-39C9-45EF-B862-F402631158CF}" type="slidenum">
              <a:rPr lang="en-US" smtClean="0"/>
              <a:t>‹#›</a:t>
            </a:fld>
            <a:endParaRPr lang="en-US"/>
          </a:p>
        </p:txBody>
      </p:sp>
    </p:spTree>
    <p:extLst>
      <p:ext uri="{BB962C8B-B14F-4D97-AF65-F5344CB8AC3E}">
        <p14:creationId xmlns:p14="http://schemas.microsoft.com/office/powerpoint/2010/main" val="3233147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src.nist.gov/publications/detail/sp/800-53/rev-5/final" TargetMode="External"/><Relationship Id="rId2" Type="http://schemas.openxmlformats.org/officeDocument/2006/relationships/hyperlink" Target="https://docs.github.com/en/code-security" TargetMode="External"/><Relationship Id="rId1" Type="http://schemas.openxmlformats.org/officeDocument/2006/relationships/slideLayout" Target="../slideLayouts/slideLayout2.xml"/><Relationship Id="rId5" Type="http://schemas.openxmlformats.org/officeDocument/2006/relationships/hyperlink" Target="https://wiki.sei.cmu.edu/confluence/display/seccode" TargetMode="External"/><Relationship Id="rId4" Type="http://schemas.openxmlformats.org/officeDocument/2006/relationships/hyperlink" Target="https://cheatsheetseries.owasp.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adlock on computer motherboard">
            <a:extLst>
              <a:ext uri="{FF2B5EF4-FFF2-40B4-BE49-F238E27FC236}">
                <a16:creationId xmlns:a16="http://schemas.microsoft.com/office/drawing/2014/main" id="{3FAB9622-95E9-1E0B-89EE-D6CB5AE40985}"/>
              </a:ext>
            </a:extLst>
          </p:cNvPr>
          <p:cNvPicPr>
            <a:picLocks noChangeAspect="1"/>
          </p:cNvPicPr>
          <p:nvPr/>
        </p:nvPicPr>
        <p:blipFill>
          <a:blip r:embed="rId2"/>
          <a:srcRect r="23289" b="9091"/>
          <a:stretch>
            <a:fillRect/>
          </a:stretch>
        </p:blipFill>
        <p:spPr>
          <a:xfrm>
            <a:off x="3522468" y="10"/>
            <a:ext cx="8669532" cy="6857990"/>
          </a:xfrm>
          <a:prstGeom prst="rect">
            <a:avLst/>
          </a:prstGeom>
        </p:spPr>
      </p:pic>
      <p:sp>
        <p:nvSpPr>
          <p:cNvPr id="16" name="Rectangle 15">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8E99EC-9F9D-B148-B866-FB768E4886B4}"/>
              </a:ext>
            </a:extLst>
          </p:cNvPr>
          <p:cNvSpPr>
            <a:spLocks noGrp="1"/>
          </p:cNvSpPr>
          <p:nvPr>
            <p:ph type="ctrTitle"/>
          </p:nvPr>
        </p:nvSpPr>
        <p:spPr>
          <a:xfrm>
            <a:off x="371094" y="1161288"/>
            <a:ext cx="3438144" cy="1124712"/>
          </a:xfrm>
        </p:spPr>
        <p:txBody>
          <a:bodyPr vert="horz" lIns="91440" tIns="45720" rIns="91440" bIns="45720" rtlCol="0" anchor="b">
            <a:normAutofit/>
          </a:bodyPr>
          <a:lstStyle/>
          <a:p>
            <a:pPr algn="l"/>
            <a:r>
              <a:rPr lang="en-US" sz="2400">
                <a:solidFill>
                  <a:schemeClr val="bg1"/>
                </a:solidFill>
              </a:rPr>
              <a:t>Security Controls in Shared Source Code Repositories</a:t>
            </a:r>
          </a:p>
        </p:txBody>
      </p:sp>
      <p:sp>
        <p:nvSpPr>
          <p:cNvPr id="18" name="Rectangle 17">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0CC7AB60-F594-3BE9-8957-8B8FF3020A8D}"/>
              </a:ext>
            </a:extLst>
          </p:cNvPr>
          <p:cNvSpPr>
            <a:spLocks noGrp="1"/>
          </p:cNvSpPr>
          <p:nvPr>
            <p:ph type="subTitle" idx="1"/>
          </p:nvPr>
        </p:nvSpPr>
        <p:spPr>
          <a:xfrm>
            <a:off x="371094" y="2718054"/>
            <a:ext cx="3438906" cy="3207258"/>
          </a:xfrm>
        </p:spPr>
        <p:txBody>
          <a:bodyPr vert="horz" lIns="91440" tIns="45720" rIns="91440" bIns="45720" rtlCol="0" anchor="t">
            <a:normAutofit/>
          </a:bodyPr>
          <a:lstStyle/>
          <a:p>
            <a:pPr indent="-228600" algn="l">
              <a:buFont typeface="Arial" panose="020B0604020202020204" pitchFamily="34" charset="0"/>
              <a:buChar char="•"/>
            </a:pPr>
            <a:r>
              <a:rPr lang="en-US" sz="1700" dirty="0">
                <a:solidFill>
                  <a:schemeClr val="bg1"/>
                </a:solidFill>
              </a:rPr>
              <a:t>Jackson Webster</a:t>
            </a:r>
            <a:endParaRPr lang="en-US" sz="1700" b="0" dirty="0">
              <a:solidFill>
                <a:schemeClr val="bg1"/>
              </a:solidFill>
              <a:effectLst/>
            </a:endParaRPr>
          </a:p>
          <a:p>
            <a:pPr indent="-228600" algn="l">
              <a:buFont typeface="Arial" panose="020B0604020202020204" pitchFamily="34" charset="0"/>
              <a:buChar char="•"/>
            </a:pPr>
            <a:r>
              <a:rPr lang="en-US" sz="1700" dirty="0">
                <a:solidFill>
                  <a:schemeClr val="bg1"/>
                </a:solidFill>
              </a:rPr>
              <a:t>Assignment 11.2</a:t>
            </a:r>
            <a:endParaRPr lang="en-US" sz="1700" b="0" dirty="0">
              <a:solidFill>
                <a:schemeClr val="bg1"/>
              </a:solidFill>
              <a:effectLst/>
            </a:endParaRPr>
          </a:p>
          <a:p>
            <a:pPr indent="-228600" algn="l">
              <a:buFont typeface="Arial" panose="020B0604020202020204" pitchFamily="34" charset="0"/>
              <a:buChar char="•"/>
            </a:pPr>
            <a:r>
              <a:rPr lang="en-US" sz="1700" dirty="0">
                <a:solidFill>
                  <a:schemeClr val="bg1"/>
                </a:solidFill>
              </a:rPr>
              <a:t>DevOps</a:t>
            </a:r>
            <a:endParaRPr lang="en-US" sz="1700" b="0" dirty="0">
              <a:solidFill>
                <a:schemeClr val="bg1"/>
              </a:solidFill>
              <a:effectLst/>
            </a:endParaRPr>
          </a:p>
          <a:p>
            <a:pPr indent="-228600" algn="l">
              <a:buFont typeface="Arial" panose="020B0604020202020204" pitchFamily="34" charset="0"/>
              <a:buChar char="•"/>
            </a:pPr>
            <a:r>
              <a:rPr lang="en-US" sz="1700" dirty="0">
                <a:solidFill>
                  <a:schemeClr val="bg1"/>
                </a:solidFill>
              </a:rPr>
              <a:t>2/24/2026</a:t>
            </a:r>
            <a:br>
              <a:rPr lang="en-US" sz="1700" dirty="0">
                <a:solidFill>
                  <a:schemeClr val="bg1"/>
                </a:solidFill>
              </a:rPr>
            </a:br>
            <a:endParaRPr lang="en-US" sz="1700" dirty="0">
              <a:solidFill>
                <a:schemeClr val="bg1"/>
              </a:solidFill>
            </a:endParaRPr>
          </a:p>
        </p:txBody>
      </p:sp>
    </p:spTree>
    <p:extLst>
      <p:ext uri="{BB962C8B-B14F-4D97-AF65-F5344CB8AC3E}">
        <p14:creationId xmlns:p14="http://schemas.microsoft.com/office/powerpoint/2010/main" val="209194791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7B006F52-AA6C-C4A4-6B35-9DB00BAAF95C}"/>
              </a:ext>
            </a:extLst>
          </p:cNvPr>
          <p:cNvSpPr>
            <a:spLocks noGrp="1"/>
          </p:cNvSpPr>
          <p:nvPr>
            <p:ph type="title"/>
          </p:nvPr>
        </p:nvSpPr>
        <p:spPr>
          <a:xfrm>
            <a:off x="838200" y="448721"/>
            <a:ext cx="4707671" cy="1225650"/>
          </a:xfrm>
        </p:spPr>
        <p:txBody>
          <a:bodyPr anchor="b">
            <a:normAutofit/>
          </a:bodyPr>
          <a:lstStyle/>
          <a:p>
            <a:r>
              <a:rPr lang="en-US" sz="3500">
                <a:solidFill>
                  <a:schemeClr val="bg1"/>
                </a:solidFill>
              </a:rPr>
              <a:t>What Are Shared Source Code Repositories?</a:t>
            </a:r>
          </a:p>
        </p:txBody>
      </p:sp>
      <p:cxnSp>
        <p:nvCxnSpPr>
          <p:cNvPr id="28" name="Straight Connector 27">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172B840-0DCC-53C2-A456-CE50DBDDD351}"/>
              </a:ext>
            </a:extLst>
          </p:cNvPr>
          <p:cNvSpPr>
            <a:spLocks noGrp="1"/>
          </p:cNvSpPr>
          <p:nvPr>
            <p:ph idx="1"/>
          </p:nvPr>
        </p:nvSpPr>
        <p:spPr>
          <a:xfrm>
            <a:off x="897769" y="1909192"/>
            <a:ext cx="4586513" cy="3647710"/>
          </a:xfrm>
        </p:spPr>
        <p:txBody>
          <a:bodyPr>
            <a:normAutofit/>
          </a:bodyPr>
          <a:lstStyle/>
          <a:p>
            <a:pPr marL="0" indent="0">
              <a:buNone/>
            </a:pPr>
            <a:r>
              <a:rPr lang="en-US" sz="2000">
                <a:solidFill>
                  <a:schemeClr val="bg1"/>
                </a:solidFill>
              </a:rPr>
              <a:t>Shared repositories are platforms where teams store and manage code together. Examples include GitHub, GitLab, and Bitbucket. They allow multiple developers to work on the same project, track changes, and collaborate. Because many people can access the code, security controls are important to prevent leaks, malicious changes, or accidental mistakes.</a:t>
            </a:r>
          </a:p>
        </p:txBody>
      </p:sp>
      <p:cxnSp>
        <p:nvCxnSpPr>
          <p:cNvPr id="30" name="Straight Connector 29">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2" name="Picture 21" descr="Person watching empty phone">
            <a:extLst>
              <a:ext uri="{FF2B5EF4-FFF2-40B4-BE49-F238E27FC236}">
                <a16:creationId xmlns:a16="http://schemas.microsoft.com/office/drawing/2014/main" id="{0E9BF134-FDB6-E9BB-17C9-BE1C1E0AC45B}"/>
              </a:ext>
            </a:extLst>
          </p:cNvPr>
          <p:cNvPicPr>
            <a:picLocks noChangeAspect="1"/>
          </p:cNvPicPr>
          <p:nvPr/>
        </p:nvPicPr>
        <p:blipFill>
          <a:blip r:embed="rId2"/>
          <a:stretch>
            <a:fillRect/>
          </a:stretch>
        </p:blipFill>
        <p:spPr>
          <a:xfrm>
            <a:off x="6525453" y="1537790"/>
            <a:ext cx="5666547" cy="3782420"/>
          </a:xfrm>
          <a:prstGeom prst="rect">
            <a:avLst/>
          </a:prstGeom>
        </p:spPr>
      </p:pic>
    </p:spTree>
    <p:extLst>
      <p:ext uri="{BB962C8B-B14F-4D97-AF65-F5344CB8AC3E}">
        <p14:creationId xmlns:p14="http://schemas.microsoft.com/office/powerpoint/2010/main" val="3627064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4FB63B5-E35A-61F7-9247-4DC702ECE39A}"/>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rPr>
              <a:t>Why Repository Security Matters</a:t>
            </a:r>
          </a:p>
        </p:txBody>
      </p:sp>
      <p:cxnSp>
        <p:nvCxnSpPr>
          <p:cNvPr id="25" name="Straight Connector 24">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023BB7F-B15C-E427-7F99-FF32373F7B0C}"/>
              </a:ext>
            </a:extLst>
          </p:cNvPr>
          <p:cNvSpPr>
            <a:spLocks noGrp="1"/>
          </p:cNvSpPr>
          <p:nvPr>
            <p:ph idx="1"/>
          </p:nvPr>
        </p:nvSpPr>
        <p:spPr>
          <a:xfrm>
            <a:off x="897769" y="1909192"/>
            <a:ext cx="4586513" cy="3647710"/>
          </a:xfrm>
        </p:spPr>
        <p:txBody>
          <a:bodyPr>
            <a:normAutofit/>
          </a:bodyPr>
          <a:lstStyle/>
          <a:p>
            <a:pPr marL="0" indent="0">
              <a:buNone/>
            </a:pPr>
            <a:r>
              <a:rPr lang="en-US" sz="2000">
                <a:solidFill>
                  <a:schemeClr val="bg1"/>
                </a:solidFill>
              </a:rPr>
              <a:t>If a repository is not protected, attackers could steal code, insert harmful code, or access sensitive data like API keys or passwords. A breach can lead to service outages, financial loss, or reputation damage. Good security controls help keep the code safe and ensure only authorized users can make changes.</a:t>
            </a:r>
          </a:p>
        </p:txBody>
      </p:sp>
      <p:cxnSp>
        <p:nvCxnSpPr>
          <p:cNvPr id="27" name="Straight Connector 26">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Graphic 6" descr="Unlock">
            <a:extLst>
              <a:ext uri="{FF2B5EF4-FFF2-40B4-BE49-F238E27FC236}">
                <a16:creationId xmlns:a16="http://schemas.microsoft.com/office/drawing/2014/main" id="{7958358C-228B-2823-85BD-38F3B4CB57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5453" y="595726"/>
            <a:ext cx="5666547" cy="5666547"/>
          </a:xfrm>
          <a:prstGeom prst="rect">
            <a:avLst/>
          </a:prstGeom>
        </p:spPr>
      </p:pic>
    </p:spTree>
    <p:extLst>
      <p:ext uri="{BB962C8B-B14F-4D97-AF65-F5344CB8AC3E}">
        <p14:creationId xmlns:p14="http://schemas.microsoft.com/office/powerpoint/2010/main" val="3961197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C7EEE3E-4028-539B-8E63-C3432E4E8CE5}"/>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rPr>
              <a:t>Access Control and Permissions</a:t>
            </a:r>
          </a:p>
        </p:txBody>
      </p:sp>
      <p:cxnSp>
        <p:nvCxnSpPr>
          <p:cNvPr id="18" name="Straight Connector 17">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3EB010-F8F0-AC55-7AF5-BDE1186A824C}"/>
              </a:ext>
            </a:extLst>
          </p:cNvPr>
          <p:cNvSpPr>
            <a:spLocks noGrp="1"/>
          </p:cNvSpPr>
          <p:nvPr>
            <p:ph idx="1"/>
          </p:nvPr>
        </p:nvSpPr>
        <p:spPr>
          <a:xfrm>
            <a:off x="897769" y="1909192"/>
            <a:ext cx="4586513" cy="3647710"/>
          </a:xfrm>
        </p:spPr>
        <p:txBody>
          <a:bodyPr>
            <a:normAutofit/>
          </a:bodyPr>
          <a:lstStyle/>
          <a:p>
            <a:pPr marL="0" indent="0">
              <a:buNone/>
            </a:pPr>
            <a:r>
              <a:rPr lang="en-US" sz="2000">
                <a:solidFill>
                  <a:schemeClr val="bg1"/>
                </a:solidFill>
              </a:rPr>
              <a:t>One of the most important practices is controlling who has access. Teams should use role-based permissions so users only get the access they need. Multi-factor authentication should also be enabled for all contributors. This reduces the risk of stolen passwords leading to unauthorized access.</a:t>
            </a:r>
          </a:p>
        </p:txBody>
      </p:sp>
      <p:cxnSp>
        <p:nvCxnSpPr>
          <p:cNvPr id="20" name="Straight Connector 19">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3D pattern of ring shapes connected by lines">
            <a:extLst>
              <a:ext uri="{FF2B5EF4-FFF2-40B4-BE49-F238E27FC236}">
                <a16:creationId xmlns:a16="http://schemas.microsoft.com/office/drawing/2014/main" id="{3571E1BC-5AF4-EFA1-D4FB-09317D74D105}"/>
              </a:ext>
            </a:extLst>
          </p:cNvPr>
          <p:cNvPicPr>
            <a:picLocks noChangeAspect="1"/>
          </p:cNvPicPr>
          <p:nvPr/>
        </p:nvPicPr>
        <p:blipFill>
          <a:blip r:embed="rId2"/>
          <a:srcRect l="8611" r="41333"/>
          <a:stretch>
            <a:fillRect/>
          </a:stretch>
        </p:blipFill>
        <p:spPr>
          <a:xfrm>
            <a:off x="6525453" y="245132"/>
            <a:ext cx="5666547" cy="6367735"/>
          </a:xfrm>
          <a:prstGeom prst="rect">
            <a:avLst/>
          </a:prstGeom>
        </p:spPr>
      </p:pic>
    </p:spTree>
    <p:extLst>
      <p:ext uri="{BB962C8B-B14F-4D97-AF65-F5344CB8AC3E}">
        <p14:creationId xmlns:p14="http://schemas.microsoft.com/office/powerpoint/2010/main" val="2018572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5BF5C37A-10C1-AFA3-0B1A-62DA8A5B4B5E}"/>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rPr>
              <a:t>Secure Code Reviews and Pull Requests</a:t>
            </a:r>
          </a:p>
        </p:txBody>
      </p:sp>
      <p:cxnSp>
        <p:nvCxnSpPr>
          <p:cNvPr id="20" name="Straight Connector 19">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4DF33C0-F235-C96B-05F9-AE10DE0CFEFA}"/>
              </a:ext>
            </a:extLst>
          </p:cNvPr>
          <p:cNvSpPr>
            <a:spLocks noGrp="1"/>
          </p:cNvSpPr>
          <p:nvPr>
            <p:ph idx="1"/>
          </p:nvPr>
        </p:nvSpPr>
        <p:spPr>
          <a:xfrm>
            <a:off x="897769" y="1909192"/>
            <a:ext cx="4586513" cy="3647710"/>
          </a:xfrm>
        </p:spPr>
        <p:txBody>
          <a:bodyPr>
            <a:normAutofit/>
          </a:bodyPr>
          <a:lstStyle/>
          <a:p>
            <a:pPr marL="0" indent="0">
              <a:buNone/>
            </a:pPr>
            <a:r>
              <a:rPr lang="en-US" sz="2000">
                <a:solidFill>
                  <a:schemeClr val="bg1"/>
                </a:solidFill>
              </a:rPr>
              <a:t>All changes should go through pull requests and reviews before merging into the main branch. Code reviews help catch security issues, bugs, or suspicious changes early. Automated checks can also scan for vulnerabilities or secrets before allowing the merge.</a:t>
            </a:r>
          </a:p>
        </p:txBody>
      </p:sp>
      <p:cxnSp>
        <p:nvCxnSpPr>
          <p:cNvPr id="22" name="Straight Connector 21">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Illuminated server room panel">
            <a:extLst>
              <a:ext uri="{FF2B5EF4-FFF2-40B4-BE49-F238E27FC236}">
                <a16:creationId xmlns:a16="http://schemas.microsoft.com/office/drawing/2014/main" id="{AC8B05E8-E2E4-BD1C-BF7C-10F865E275EF}"/>
              </a:ext>
            </a:extLst>
          </p:cNvPr>
          <p:cNvPicPr>
            <a:picLocks noChangeAspect="1"/>
          </p:cNvPicPr>
          <p:nvPr/>
        </p:nvPicPr>
        <p:blipFill>
          <a:blip r:embed="rId2"/>
          <a:srcRect l="17002" r="23733" b="-1"/>
          <a:stretch>
            <a:fillRect/>
          </a:stretch>
        </p:blipFill>
        <p:spPr>
          <a:xfrm>
            <a:off x="6525453" y="237860"/>
            <a:ext cx="5666547" cy="6382279"/>
          </a:xfrm>
          <a:prstGeom prst="rect">
            <a:avLst/>
          </a:prstGeom>
        </p:spPr>
      </p:pic>
    </p:spTree>
    <p:extLst>
      <p:ext uri="{BB962C8B-B14F-4D97-AF65-F5344CB8AC3E}">
        <p14:creationId xmlns:p14="http://schemas.microsoft.com/office/powerpoint/2010/main" val="3261130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440082D6-598D-9675-D3C3-4CEEAE505121}"/>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rPr>
              <a:t>Protecting Secrets and Sensitive Data</a:t>
            </a:r>
          </a:p>
        </p:txBody>
      </p:sp>
      <p:cxnSp>
        <p:nvCxnSpPr>
          <p:cNvPr id="16" name="Straight Connector 15">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F5D38C-4877-D8B1-2D1D-F7834110678E}"/>
              </a:ext>
            </a:extLst>
          </p:cNvPr>
          <p:cNvSpPr>
            <a:spLocks noGrp="1"/>
          </p:cNvSpPr>
          <p:nvPr>
            <p:ph idx="1"/>
          </p:nvPr>
        </p:nvSpPr>
        <p:spPr>
          <a:xfrm>
            <a:off x="897769" y="1909192"/>
            <a:ext cx="4586513" cy="3647710"/>
          </a:xfrm>
        </p:spPr>
        <p:txBody>
          <a:bodyPr>
            <a:normAutofit/>
          </a:bodyPr>
          <a:lstStyle/>
          <a:p>
            <a:pPr marL="0" indent="0">
              <a:buNone/>
            </a:pPr>
            <a:r>
              <a:rPr lang="en-US" sz="2000">
                <a:solidFill>
                  <a:schemeClr val="bg1"/>
                </a:solidFill>
              </a:rPr>
              <a:t>Repositories should never store passwords, API keys, or private credentials in plain text. Tools like secret scanning can detect exposed credentials automatically. If sensitive data is committed by mistake, it should be removed quickly and credentials rotated.</a:t>
            </a:r>
          </a:p>
        </p:txBody>
      </p:sp>
      <p:cxnSp>
        <p:nvCxnSpPr>
          <p:cNvPr id="18" name="Straight Connector 17">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Files">
            <a:extLst>
              <a:ext uri="{FF2B5EF4-FFF2-40B4-BE49-F238E27FC236}">
                <a16:creationId xmlns:a16="http://schemas.microsoft.com/office/drawing/2014/main" id="{E6BC32B9-7AEC-D2E4-C66B-468CF24BC59E}"/>
              </a:ext>
            </a:extLst>
          </p:cNvPr>
          <p:cNvPicPr>
            <a:picLocks noChangeAspect="1"/>
          </p:cNvPicPr>
          <p:nvPr/>
        </p:nvPicPr>
        <p:blipFill>
          <a:blip r:embed="rId2"/>
          <a:srcRect l="12115" r="32731" b="-1"/>
          <a:stretch>
            <a:fillRect/>
          </a:stretch>
        </p:blipFill>
        <p:spPr>
          <a:xfrm>
            <a:off x="6525453" y="10"/>
            <a:ext cx="5666547" cy="6857990"/>
          </a:xfrm>
          <a:prstGeom prst="rect">
            <a:avLst/>
          </a:prstGeom>
        </p:spPr>
      </p:pic>
    </p:spTree>
    <p:extLst>
      <p:ext uri="{BB962C8B-B14F-4D97-AF65-F5344CB8AC3E}">
        <p14:creationId xmlns:p14="http://schemas.microsoft.com/office/powerpoint/2010/main" val="1832656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24421F7-C16B-3C5A-1776-D78AD0448857}"/>
              </a:ext>
            </a:extLst>
          </p:cNvPr>
          <p:cNvSpPr>
            <a:spLocks noGrp="1"/>
          </p:cNvSpPr>
          <p:nvPr>
            <p:ph type="title"/>
          </p:nvPr>
        </p:nvSpPr>
        <p:spPr>
          <a:xfrm>
            <a:off x="1014141" y="1450655"/>
            <a:ext cx="3932030" cy="3956690"/>
          </a:xfrm>
        </p:spPr>
        <p:txBody>
          <a:bodyPr anchor="ctr">
            <a:normAutofit/>
          </a:bodyPr>
          <a:lstStyle/>
          <a:p>
            <a:r>
              <a:rPr lang="en-US" sz="5600">
                <a:solidFill>
                  <a:schemeClr val="bg1"/>
                </a:solidFill>
              </a:rPr>
              <a:t>Branch Protection and Version Control Safety</a:t>
            </a:r>
          </a:p>
        </p:txBody>
      </p:sp>
      <p:cxnSp>
        <p:nvCxnSpPr>
          <p:cNvPr id="19" name="Straight Connector 18">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3442C2A-64F6-1B6E-8A7F-C8978B418376}"/>
              </a:ext>
            </a:extLst>
          </p:cNvPr>
          <p:cNvSpPr>
            <a:spLocks noGrp="1"/>
          </p:cNvSpPr>
          <p:nvPr>
            <p:ph idx="1"/>
          </p:nvPr>
        </p:nvSpPr>
        <p:spPr>
          <a:xfrm>
            <a:off x="6096000" y="1108061"/>
            <a:ext cx="5008901" cy="4571972"/>
          </a:xfrm>
        </p:spPr>
        <p:txBody>
          <a:bodyPr anchor="ctr">
            <a:normAutofit/>
          </a:bodyPr>
          <a:lstStyle/>
          <a:p>
            <a:pPr marL="0" indent="0">
              <a:buNone/>
            </a:pPr>
            <a:r>
              <a:rPr lang="en-US" sz="2000">
                <a:solidFill>
                  <a:schemeClr val="bg1"/>
                </a:solidFill>
              </a:rPr>
              <a:t>Branch protection rules help prevent risky changes. For example, teams can require reviews, testing, or status checks before merging. Version history also helps track who changed what and allows rollback if something goes wrong.</a:t>
            </a:r>
          </a:p>
        </p:txBody>
      </p:sp>
    </p:spTree>
    <p:extLst>
      <p:ext uri="{BB962C8B-B14F-4D97-AF65-F5344CB8AC3E}">
        <p14:creationId xmlns:p14="http://schemas.microsoft.com/office/powerpoint/2010/main" val="1952661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2FF7295D-E6AA-A66B-AFF6-47E6F3816965}"/>
              </a:ext>
            </a:extLst>
          </p:cNvPr>
          <p:cNvSpPr>
            <a:spLocks noGrp="1"/>
          </p:cNvSpPr>
          <p:nvPr>
            <p:ph type="title"/>
          </p:nvPr>
        </p:nvSpPr>
        <p:spPr>
          <a:xfrm>
            <a:off x="1014141" y="1450655"/>
            <a:ext cx="3932030" cy="3956690"/>
          </a:xfrm>
        </p:spPr>
        <p:txBody>
          <a:bodyPr anchor="ctr">
            <a:normAutofit/>
          </a:bodyPr>
          <a:lstStyle/>
          <a:p>
            <a:r>
              <a:rPr lang="en-US" sz="6200">
                <a:solidFill>
                  <a:schemeClr val="bg1"/>
                </a:solidFill>
              </a:rPr>
              <a:t>Monitoring and Automation Tools</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365B37F-34FE-E89E-B047-5EBCEB98A5A3}"/>
              </a:ext>
            </a:extLst>
          </p:cNvPr>
          <p:cNvSpPr>
            <a:spLocks noGrp="1"/>
          </p:cNvSpPr>
          <p:nvPr>
            <p:ph idx="1"/>
          </p:nvPr>
        </p:nvSpPr>
        <p:spPr>
          <a:xfrm>
            <a:off x="6096000" y="1108061"/>
            <a:ext cx="5008901" cy="4571972"/>
          </a:xfrm>
        </p:spPr>
        <p:txBody>
          <a:bodyPr anchor="ctr">
            <a:normAutofit/>
          </a:bodyPr>
          <a:lstStyle/>
          <a:p>
            <a:pPr marL="0" indent="0">
              <a:buNone/>
            </a:pPr>
            <a:r>
              <a:rPr lang="en-US" sz="2000">
                <a:solidFill>
                  <a:schemeClr val="bg1"/>
                </a:solidFill>
              </a:rPr>
              <a:t>Security tools can monitor repositories continuously. Examples include Dependabot for dependency updates and vulnerability alerts, and automated CI/CD security scans. Monitoring logs and activity also helps detect suspicious behavior early.</a:t>
            </a:r>
          </a:p>
        </p:txBody>
      </p:sp>
    </p:spTree>
    <p:extLst>
      <p:ext uri="{BB962C8B-B14F-4D97-AF65-F5344CB8AC3E}">
        <p14:creationId xmlns:p14="http://schemas.microsoft.com/office/powerpoint/2010/main" val="1719072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E5162C4E-D3F1-C96C-7DC6-DBC66FE8AA96}"/>
              </a:ext>
            </a:extLst>
          </p:cNvPr>
          <p:cNvSpPr>
            <a:spLocks noGrp="1"/>
          </p:cNvSpPr>
          <p:nvPr>
            <p:ph type="title"/>
          </p:nvPr>
        </p:nvSpPr>
        <p:spPr>
          <a:xfrm>
            <a:off x="922635" y="1250575"/>
            <a:ext cx="4604274" cy="4163210"/>
          </a:xfrm>
        </p:spPr>
        <p:txBody>
          <a:bodyPr anchor="ctr">
            <a:normAutofit/>
          </a:bodyPr>
          <a:lstStyle/>
          <a:p>
            <a:r>
              <a:rPr lang="en-US" sz="8000">
                <a:solidFill>
                  <a:schemeClr val="bg1"/>
                </a:solidFill>
              </a:rPr>
              <a:t>Summary</a:t>
            </a:r>
          </a:p>
        </p:txBody>
      </p:sp>
      <p:sp>
        <p:nvSpPr>
          <p:cNvPr id="19" name="Rectangle 18">
            <a:extLst>
              <a:ext uri="{FF2B5EF4-FFF2-40B4-BE49-F238E27FC236}">
                <a16:creationId xmlns:a16="http://schemas.microsoft.com/office/drawing/2014/main" id="{C2C57604-0CFD-4023-B9BD-107166A25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476" y="1100949"/>
            <a:ext cx="4996593"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FC5CE6-10E1-B785-7EB5-0BC625950BC6}"/>
              </a:ext>
            </a:extLst>
          </p:cNvPr>
          <p:cNvSpPr>
            <a:spLocks noGrp="1"/>
          </p:cNvSpPr>
          <p:nvPr>
            <p:ph idx="1"/>
          </p:nvPr>
        </p:nvSpPr>
        <p:spPr>
          <a:xfrm>
            <a:off x="6293224" y="860612"/>
            <a:ext cx="4797909" cy="5023821"/>
          </a:xfrm>
        </p:spPr>
        <p:txBody>
          <a:bodyPr anchor="ctr">
            <a:normAutofit/>
          </a:bodyPr>
          <a:lstStyle/>
          <a:p>
            <a:pPr marL="0" indent="0">
              <a:buNone/>
            </a:pPr>
            <a:r>
              <a:rPr lang="en-US" sz="2000">
                <a:solidFill>
                  <a:schemeClr val="bg1"/>
                </a:solidFill>
              </a:rPr>
              <a:t>Shared repositories make teamwork easier, but they also introduce risks. Using access control, MFA, code reviews, secret protection, branch rules, and monitoring tools helps keep projects secure. Following these best practices protects both the code and the organization.</a:t>
            </a:r>
          </a:p>
        </p:txBody>
      </p:sp>
    </p:spTree>
    <p:extLst>
      <p:ext uri="{BB962C8B-B14F-4D97-AF65-F5344CB8AC3E}">
        <p14:creationId xmlns:p14="http://schemas.microsoft.com/office/powerpoint/2010/main" val="3275546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20D401A9-9F52-2160-3FC5-D1D686F42E10}"/>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rPr>
              <a:t>References</a:t>
            </a:r>
          </a:p>
        </p:txBody>
      </p:sp>
      <p:cxnSp>
        <p:nvCxnSpPr>
          <p:cNvPr id="30" name="Straight Connector 2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BF1C337-E31B-F0F8-3631-4E363D65A8FB}"/>
              </a:ext>
            </a:extLst>
          </p:cNvPr>
          <p:cNvSpPr>
            <a:spLocks noGrp="1"/>
          </p:cNvSpPr>
          <p:nvPr>
            <p:ph idx="1"/>
          </p:nvPr>
        </p:nvSpPr>
        <p:spPr>
          <a:xfrm>
            <a:off x="1392667" y="2398957"/>
            <a:ext cx="9406666" cy="3526144"/>
          </a:xfrm>
        </p:spPr>
        <p:txBody>
          <a:bodyPr>
            <a:normAutofit/>
          </a:bodyPr>
          <a:lstStyle/>
          <a:p>
            <a:r>
              <a:rPr lang="en-US" sz="1700" dirty="0">
                <a:solidFill>
                  <a:schemeClr val="bg1"/>
                </a:solidFill>
              </a:rPr>
              <a:t>GitHub Docs. </a:t>
            </a:r>
            <a:r>
              <a:rPr lang="en-US" sz="1700" i="1" dirty="0">
                <a:solidFill>
                  <a:schemeClr val="bg1"/>
                </a:solidFill>
              </a:rPr>
              <a:t>About securing your repository.</a:t>
            </a:r>
            <a:r>
              <a:rPr lang="en-US" sz="1700" dirty="0">
                <a:solidFill>
                  <a:schemeClr val="bg1"/>
                </a:solidFill>
              </a:rPr>
              <a:t> </a:t>
            </a:r>
            <a:r>
              <a:rPr lang="en-US" sz="1700" dirty="0">
                <a:solidFill>
                  <a:schemeClr val="bg1"/>
                </a:solidFill>
                <a:hlinkClick r:id="rId2"/>
              </a:rPr>
              <a:t>https://docs.github.com/en/code-security</a:t>
            </a:r>
            <a:endParaRPr lang="en-US" sz="1700" dirty="0">
              <a:solidFill>
                <a:schemeClr val="bg1"/>
              </a:solidFill>
            </a:endParaRPr>
          </a:p>
          <a:p>
            <a:endParaRPr lang="en-US" sz="1700" dirty="0">
              <a:solidFill>
                <a:schemeClr val="bg1"/>
              </a:solidFill>
            </a:endParaRPr>
          </a:p>
          <a:p>
            <a:r>
              <a:rPr lang="en-US" sz="1700" dirty="0">
                <a:solidFill>
                  <a:schemeClr val="bg1"/>
                </a:solidFill>
              </a:rPr>
              <a:t>National Institute of Standards and Technology. </a:t>
            </a:r>
            <a:r>
              <a:rPr lang="en-US" sz="1700" dirty="0">
                <a:solidFill>
                  <a:schemeClr val="bg1"/>
                </a:solidFill>
                <a:hlinkClick r:id="rId3"/>
              </a:rPr>
              <a:t>https://csrc.nist.gov/publications/detail/sp/800-53/rev-5/final</a:t>
            </a:r>
            <a:endParaRPr lang="en-US" sz="1700" dirty="0">
              <a:solidFill>
                <a:schemeClr val="bg1"/>
              </a:solidFill>
            </a:endParaRPr>
          </a:p>
          <a:p>
            <a:endParaRPr lang="en-US" sz="1700" dirty="0">
              <a:solidFill>
                <a:schemeClr val="bg1"/>
              </a:solidFill>
            </a:endParaRPr>
          </a:p>
          <a:p>
            <a:r>
              <a:rPr lang="en-US" sz="1700" dirty="0">
                <a:solidFill>
                  <a:schemeClr val="bg1"/>
                </a:solidFill>
              </a:rPr>
              <a:t>OWASP Cheat Sheet Series. </a:t>
            </a:r>
            <a:r>
              <a:rPr lang="en-US" sz="1700" dirty="0">
                <a:solidFill>
                  <a:schemeClr val="bg1"/>
                </a:solidFill>
                <a:hlinkClick r:id="rId4"/>
              </a:rPr>
              <a:t>https://cheatsheetseries.owasp.org/</a:t>
            </a:r>
            <a:endParaRPr lang="en-US" sz="1700" dirty="0">
              <a:solidFill>
                <a:schemeClr val="bg1"/>
              </a:solidFill>
            </a:endParaRPr>
          </a:p>
          <a:p>
            <a:endParaRPr lang="en-US" sz="1700" dirty="0">
              <a:solidFill>
                <a:schemeClr val="bg1"/>
              </a:solidFill>
            </a:endParaRPr>
          </a:p>
          <a:p>
            <a:r>
              <a:rPr lang="en-US" sz="1700" dirty="0">
                <a:solidFill>
                  <a:schemeClr val="bg1"/>
                </a:solidFill>
              </a:rPr>
              <a:t>SEI CERT. </a:t>
            </a:r>
            <a:r>
              <a:rPr lang="en-US" sz="1700" i="1" dirty="0">
                <a:solidFill>
                  <a:schemeClr val="bg1"/>
                </a:solidFill>
              </a:rPr>
              <a:t>Secure Coding Standards.</a:t>
            </a:r>
            <a:r>
              <a:rPr lang="en-US" sz="1700" dirty="0">
                <a:solidFill>
                  <a:schemeClr val="bg1"/>
                </a:solidFill>
              </a:rPr>
              <a:t> </a:t>
            </a:r>
            <a:r>
              <a:rPr lang="en-US" sz="1700" dirty="0">
                <a:solidFill>
                  <a:schemeClr val="bg1"/>
                </a:solidFill>
                <a:hlinkClick r:id="rId5"/>
              </a:rPr>
              <a:t>https://wiki.sei.cmu.edu/confluence/display/seccode</a:t>
            </a:r>
            <a:endParaRPr lang="en-US" sz="1700" dirty="0">
              <a:solidFill>
                <a:schemeClr val="bg1"/>
              </a:solidFill>
            </a:endParaRPr>
          </a:p>
          <a:p>
            <a:pPr marL="0" indent="0">
              <a:buNone/>
            </a:pPr>
            <a:endParaRPr lang="en-US" sz="1700" dirty="0">
              <a:solidFill>
                <a:schemeClr val="bg1"/>
              </a:solidFill>
            </a:endParaRPr>
          </a:p>
        </p:txBody>
      </p:sp>
      <p:sp>
        <p:nvSpPr>
          <p:cNvPr id="32" name="Rectangle 3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3559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509</Words>
  <Application>Microsoft Office PowerPoint</Application>
  <PresentationFormat>Widescreen</PresentationFormat>
  <Paragraphs>29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Security Controls in Shared Source Code Repositories</vt:lpstr>
      <vt:lpstr>What Are Shared Source Code Repositories?</vt:lpstr>
      <vt:lpstr>Why Repository Security Matters</vt:lpstr>
      <vt:lpstr>Access Control and Permissions</vt:lpstr>
      <vt:lpstr>Secure Code Reviews and Pull Requests</vt:lpstr>
      <vt:lpstr>Protecting Secrets and Sensitive Data</vt:lpstr>
      <vt:lpstr>Branch Protection and Version Control Safety</vt:lpstr>
      <vt:lpstr>Monitoring and Automation Tools</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Jackson Webster</dc:creator>
  <cp:lastModifiedBy>Jackson Webster</cp:lastModifiedBy>
  <cp:revision>1</cp:revision>
  <dcterms:created xsi:type="dcterms:W3CDTF">2026-02-24T16:37:43Z</dcterms:created>
  <dcterms:modified xsi:type="dcterms:W3CDTF">2026-02-24T16:52:47Z</dcterms:modified>
</cp:coreProperties>
</file>